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utfit"/>
              </a:defRPr>
            </a:pPr>
            <a:r>
              <a:t>BLUESTOCK MUTUAL FUND</a:t>
            </a:r>
            <a:br/>
            <a:r>
              <a:t>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2743200" cy="73152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4F6F9"/>
                </a:solidFill>
                <a:latin typeface="Inter"/>
              </a:defRPr>
            </a:pPr>
            <a:r>
              <a:t>Capstone Project I - Advanced Data ETL, Quant Performance &amp; Dashboard Insights</a:t>
            </a:r>
            <a:br/>
            <a:r>
              <a:t>Date: June 2026 | Presenter: Capstone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12970"/>
                </a:solidFill>
                <a:latin typeface="Outfit"/>
              </a:defRPr>
            </a:pPr>
            <a:r>
              <a:t>Problem Statement &amp;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54864"/>
          </a:xfrm>
          <a:prstGeom prst="rect">
            <a:avLst/>
          </a:prstGeom>
          <a:solidFill>
            <a:srgbClr val="414BEA"/>
          </a:solidFill>
          <a:ln>
            <a:solidFill>
              <a:srgbClr val="414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12970"/>
                </a:solidFill>
                <a:latin typeface="Inter"/>
              </a:defRPr>
            </a:pPr>
            <a:r>
              <a:t>Key Challenges in Mutual Fund Analytics: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Fragmented Data: Information scattered across unstructured CSVs, transaction reports, and live NAV streams.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Analytical Gaps: Lack of consolidated risk-adjusted returns (Sharpe, Sortino, Alpha, Beta) to evaluate funds.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Retail Behavior Insight: No retention or behavior tracking for Systematic Investment Plans (SIP) and demographics.</a:t>
            </a:r>
          </a:p>
          <a:p>
            <a:pPr>
              <a:spcAft>
                <a:spcPts val="1200"/>
              </a:spcAft>
              <a:defRPr sz="1800" b="1">
                <a:solidFill>
                  <a:srgbClr val="414BEA"/>
                </a:solidFill>
                <a:latin typeface="Inter"/>
              </a:defRPr>
            </a:pPr>
            <a:r>
              <a:t>Core Project Objectives: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ETL Pipeline: Establish a clean star-schema relational model in SQLite storing all datasets.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Quantitative Models: Implement risk analysis (VaR/CVaR, Sharpe, Beta, Drawdowns, Sector concentration).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Interactive Dashboard: Build an executive dashboard for decision support with drill-through detail 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12970"/>
                </a:solidFill>
                <a:latin typeface="Outfit"/>
              </a:defRPr>
            </a:pPr>
            <a:r>
              <a:t>Comprehensive Data Dictionary &amp;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54864"/>
          </a:xfrm>
          <a:prstGeom prst="rect">
            <a:avLst/>
          </a:prstGeom>
          <a:solidFill>
            <a:srgbClr val="414BEA"/>
          </a:solidFill>
          <a:ln>
            <a:solidFill>
              <a:srgbClr val="414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12970"/>
                </a:solidFill>
                <a:latin typeface="Inter"/>
              </a:defRPr>
            </a:pPr>
            <a:r>
              <a:t>10 Connected Datasets Segmented by Function: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dim_fund (Master): Metadata for 40 schemes (category, fund manager, risk category, expense ratio).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dim_date (Calendar): Temporal mapping from 2022 to 2026 (quarters, weekends, months).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fact_nav (NAV History): Daily Net Asset Values (over 40,000 records, forward-filled on holidays).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fact_transactions (Behavioral): Individual investor logs (types: SIP, Lumpsum, Redemption; states, city tiers).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fact_performance (Scorecard): Pre-computed risk metrics and performance ratings per fund.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fact_aum (Asset Size): Historical snapshots of assets under management per fund house.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fact_holdings (Portfolios): Stock allocation weights by sector for all equity funds.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fact_benchmark / fact_sip_inflows / fact_category_inflows: Industry market metrics and Nifty index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12970"/>
                </a:solidFill>
                <a:latin typeface="Outfit"/>
              </a:defRPr>
            </a:pPr>
            <a:r>
              <a:t>ETL Pipeline &amp; Star Schema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54864"/>
          </a:xfrm>
          <a:prstGeom prst="rect">
            <a:avLst/>
          </a:prstGeom>
          <a:solidFill>
            <a:srgbClr val="414BEA"/>
          </a:solidFill>
          <a:ln>
            <a:solidFill>
              <a:srgbClr val="414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12970"/>
                </a:solidFill>
                <a:latin typeface="Inter"/>
              </a:defRPr>
            </a:pPr>
            <a:r>
              <a:t>Clean Relational Model for Query Performance: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Star Schema: Centralized fact tables referencing dimension tables on primary keys (amfi_code and date).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Ingestion Optimization: Standardized schemas, auto-incrementing IDs, and indexed columns.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Index Strategy: Formed indexes on (amfi_code, date) and (investor_id, transaction_date) to reduce query response times.</a:t>
            </a:r>
          </a:p>
          <a:p>
            <a:pPr>
              <a:spcAft>
                <a:spcPts val="1200"/>
              </a:spcAft>
              <a:defRPr sz="1800" b="1">
                <a:solidFill>
                  <a:srgbClr val="414BEA"/>
                </a:solidFill>
                <a:latin typeface="Inter"/>
              </a:defRPr>
            </a:pPr>
            <a:r>
              <a:t>Data Cleaning &amp; Quality Controls: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Forward-filled NAVs for holidays and weekends to preserve calendar continuity.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Enforced check constraints on transaction types, positive NAV values, and verified transaction bounds.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Handled null values and standardizations on categories and fund house names.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12970"/>
                </a:solidFill>
                <a:latin typeface="Outfit"/>
              </a:defRPr>
            </a:pPr>
            <a:r>
              <a:t>EDA Highlights: Investor Demographics &amp; Geographics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54864"/>
          </a:xfrm>
          <a:prstGeom prst="rect">
            <a:avLst/>
          </a:prstGeom>
          <a:solidFill>
            <a:srgbClr val="414BEA"/>
          </a:solidFill>
          <a:ln>
            <a:solidFill>
              <a:srgbClr val="414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12970"/>
                </a:solidFill>
                <a:latin typeface="Inter"/>
              </a:defRPr>
            </a:pPr>
            <a:r>
              <a:t>Key Demographic Trends from Transaction Logs: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Gender Split: Male investors dominate representing 71% of total transaction value vs. 29% for Females.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Age Cohorts: 26-35 age bracket represents the most active segment, contributing 42% of total SIP transactions.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City Classification: T30 (Top 30) cities drive 74% of transaction inflows, B30 (Beyond 30) accounts for 26%.</a:t>
            </a:r>
          </a:p>
          <a:p>
            <a:pPr>
              <a:spcAft>
                <a:spcPts val="1200"/>
              </a:spcAft>
              <a:defRPr sz="1800" b="1">
                <a:solidFill>
                  <a:srgbClr val="414BEA"/>
                </a:solidFill>
                <a:latin typeface="Inter"/>
              </a:defRPr>
            </a:pPr>
            <a:r>
              <a:t>Geographic Inflow Leadership: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Maharashtra leads all states in total transaction volume and value, followed by Gujarat and Karnataka.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Inflows are highly correlated with GDP density, representing strong market penetration in urban fintech hubs.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12970"/>
                </a:solidFill>
                <a:latin typeface="Outfit"/>
              </a:defRPr>
            </a:pPr>
            <a:r>
              <a:t>EDA Highlights: Assets &amp; Industry Growth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54864"/>
          </a:xfrm>
          <a:prstGeom prst="rect">
            <a:avLst/>
          </a:prstGeom>
          <a:solidFill>
            <a:srgbClr val="414BEA"/>
          </a:solidFill>
          <a:ln>
            <a:solidFill>
              <a:srgbClr val="414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12970"/>
                </a:solidFill>
                <a:latin typeface="Inter"/>
              </a:defRPr>
            </a:pPr>
            <a:r>
              <a:t>Assets Under Management &amp; SIP Inflow Records: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Total AUM: The aggregate mutual fund industry AUM reached a historic high of ₹81.25L Cr in December 2025.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Monthly Inflows: SIP monthly inflows grew to ₹31,002 Cr in Dec 2025, a YoY increase of 24.8%.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Active Folios: Industry-wide active folios expanded to 26.12 Crore, reflecting high retail interest.</a:t>
            </a:r>
          </a:p>
          <a:p>
            <a:pPr>
              <a:spcAft>
                <a:spcPts val="1200"/>
              </a:spcAft>
              <a:defRPr sz="1800" b="1">
                <a:solidFill>
                  <a:srgbClr val="414BEA"/>
                </a:solidFill>
                <a:latin typeface="Inter"/>
              </a:defRPr>
            </a:pPr>
            <a:r>
              <a:t>Concentration of Assets by AMC: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SBI Mutual Fund dominates the asset market, maintaining over ₹12.5L Cr in assets (approx 15% market share).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The top 5 AMCs (SBI, ICICI Pru, HDFC, Kotak, Mirae) hold over 55% of total industry AUM.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12970"/>
                </a:solidFill>
                <a:latin typeface="Outfit"/>
              </a:defRPr>
            </a:pPr>
            <a:r>
              <a:t>Performance Analytics &amp; Ratios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54864"/>
          </a:xfrm>
          <a:prstGeom prst="rect">
            <a:avLst/>
          </a:prstGeom>
          <a:solidFill>
            <a:srgbClr val="414BEA"/>
          </a:solidFill>
          <a:ln>
            <a:solidFill>
              <a:srgbClr val="414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12970"/>
                </a:solidFill>
                <a:latin typeface="Inter"/>
              </a:defRPr>
            </a:pPr>
            <a:r>
              <a:t>Quantitative Rankings &amp; Performance Ratios: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CAGR: Computed 1-year, 3-year, and Max annualized returns. Small/mid-cap funds lead returns over 3 years.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Sharpe &amp; Sortino: Measures excess returns generated per unit of total risk and downside deviation.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Alpha &amp; Beta: Regressed fund daily returns vs. Nifty 100 to evaluate benchmark outperformance.</a:t>
            </a:r>
          </a:p>
          <a:p>
            <a:pPr>
              <a:spcAft>
                <a:spcPts val="1200"/>
              </a:spcAft>
              <a:defRPr sz="1800" b="1">
                <a:solidFill>
                  <a:srgbClr val="414BEA"/>
                </a:solidFill>
                <a:latin typeface="Inter"/>
              </a:defRPr>
            </a:pPr>
            <a:r>
              <a:t>Top 5 Scorecard Funds (Weighted Percentile Ranks):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1. HDFC Short Term Debt Fund (Score: 88.21) - Low risk, consistent outperformance.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2. ICICI Pru Liquid Fund (Score: 87.95) - Exceptional Sharpe due to minimal volatility.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3. SBI Magnum Gilt Fund (Score: 86.41) - Top performing sovereign-backed debt scheme.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4. ABSL Liquid Fund (Score: 81.03) | 5. Kotak Liquid Fund (Score: 80.00).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12970"/>
                </a:solidFill>
                <a:latin typeface="Outfit"/>
              </a:defRPr>
            </a:pPr>
            <a:r>
              <a:t>Risk Analytics: VaR, CVaR, &amp; HHI Concentration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54864"/>
          </a:xfrm>
          <a:prstGeom prst="rect">
            <a:avLst/>
          </a:prstGeom>
          <a:solidFill>
            <a:srgbClr val="414BEA"/>
          </a:solidFill>
          <a:ln>
            <a:solidFill>
              <a:srgbClr val="414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12970"/>
                </a:solidFill>
                <a:latin typeface="Inter"/>
              </a:defRPr>
            </a:pPr>
            <a:r>
              <a:t>Historical Tail Risk Analysis (95% Confidence):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Value at Risk (VaR): Represents the threshold loss on the worst 5% of trading days.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Conditional VaR (CVaR): Expected return during the worst 5% cases (measure of extreme gap downs).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Findings: Equity funds exhibit VaR &gt; 1.5% daily (ICICI Pru Midcap: VaR -1.73%, CVaR -2.91%). Debt schemes stay near 0%.</a:t>
            </a:r>
          </a:p>
          <a:p>
            <a:pPr>
              <a:spcAft>
                <a:spcPts val="1200"/>
              </a:spcAft>
              <a:defRPr sz="1800" b="1">
                <a:solidFill>
                  <a:srgbClr val="414BEA"/>
                </a:solidFill>
                <a:latin typeface="Inter"/>
              </a:defRPr>
            </a:pPr>
            <a:r>
              <a:t>Sector HHI Concentration Index (Diversification):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HHI = Σ(sector_weight²) per fund (ranges from 0 to 10,000).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High HHI (Concentrated): ICICI Pru Midcap Fund (HHI: 4,380) - highly sensitive to Banking and IT movements.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Low HHI (Diversified): Kotak Flexicap Fund (HHI: 1,650) - well dispersed across 8+ sectors.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12970"/>
                </a:solidFill>
                <a:latin typeface="Outfit"/>
              </a:defRPr>
            </a:pPr>
            <a:r>
              <a:t>Dashboard Design: Page 1 &amp; Page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54864"/>
          </a:xfrm>
          <a:prstGeom prst="rect">
            <a:avLst/>
          </a:prstGeom>
          <a:solidFill>
            <a:srgbClr val="414BEA"/>
          </a:solidFill>
          <a:ln>
            <a:solidFill>
              <a:srgbClr val="414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12970"/>
                </a:solidFill>
                <a:latin typeface="Inter"/>
              </a:defRPr>
            </a:pPr>
            <a:r>
              <a:t>Aesthetic Theme: Dark navy header background, royal blue highlights, coral warnings.</a:t>
            </a:r>
          </a:p>
          <a:p>
            <a:pPr>
              <a:spcAft>
                <a:spcPts val="1200"/>
              </a:spcAft>
              <a:defRPr sz="1600" b="1">
                <a:solidFill>
                  <a:srgbClr val="414BEA"/>
                </a:solidFill>
                <a:latin typeface="Inter"/>
              </a:defRPr>
            </a:pPr>
            <a:r>
              <a:t>Page 1: Industry Overview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Four executive KPI cards displaying: AUM (₹81.25L Cr), SIPs (₹31K Cr), Folios (26.12 Cr), Schemes (1,908).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Monthly trend of industry assets growth and bar market share of AMC sizes.</a:t>
            </a:r>
          </a:p>
          <a:p>
            <a:pPr>
              <a:spcAft>
                <a:spcPts val="1200"/>
              </a:spcAft>
              <a:defRPr sz="1600" b="1">
                <a:solidFill>
                  <a:srgbClr val="414BEA"/>
                </a:solidFill>
                <a:latin typeface="Inter"/>
              </a:defRPr>
            </a:pPr>
            <a:r>
              <a:t>Page 2: Fund Performance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Risk vs. Return Landscape: Bubble scatter chart plotting 3Y returns (X) vs. standard deviation (Y).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Scorecard table: Sortable list of 40 funds with active slicers (Fund House, Category, Plan).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Interactive Drill-Through: Clicking any row opens a detailed NAV vs. NIFTY 50 line chart overlay.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12970"/>
                </a:solidFill>
                <a:latin typeface="Outfit"/>
              </a:defRPr>
            </a:pPr>
            <a:r>
              <a:t>Dashboard Design: Page 3 &amp; Page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54864"/>
          </a:xfrm>
          <a:prstGeom prst="rect">
            <a:avLst/>
          </a:prstGeom>
          <a:solidFill>
            <a:srgbClr val="414BEA"/>
          </a:solidFill>
          <a:ln>
            <a:solidFill>
              <a:srgbClr val="414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14BEA"/>
                </a:solidFill>
                <a:latin typeface="Inter"/>
              </a:defRPr>
            </a:pPr>
            <a:r>
              <a:t>Page 3: Investor Analytics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Bar chart presenting transactional inflows by State, and donut split showing SIP / Lumpsum / Redemption ratio.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Bar graph detailing average monthly SIP ticket size by age bracket.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Interactive slicers: State of residence, age bracket, and city tier classification.</a:t>
            </a:r>
          </a:p>
          <a:p>
            <a:pPr>
              <a:spcAft>
                <a:spcPts val="1200"/>
              </a:spcAft>
              <a:defRPr sz="1600" b="1">
                <a:solidFill>
                  <a:srgbClr val="414BEA"/>
                </a:solidFill>
                <a:latin typeface="Inter"/>
              </a:defRPr>
            </a:pPr>
            <a:r>
              <a:t>Page 4: SIP &amp; Market Trends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Dual-Axis Chart: Monthly SIP inflows (bar, left Y-axis) vs. Nifty 50 Close index values (line, right Y-axis).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Net Inflow Heatmap: Monthly net inflows intensity matrix across categories (Large-cap, Small-cap, Debt, etc.).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Top 5 categories bar chart by total net inflows in FY25.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12970"/>
                </a:solidFill>
                <a:latin typeface="Outfit"/>
              </a:defRPr>
            </a:pPr>
            <a:r>
              <a:t>Key Findings &amp; Strategic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54864"/>
          </a:xfrm>
          <a:prstGeom prst="rect">
            <a:avLst/>
          </a:prstGeom>
          <a:solidFill>
            <a:srgbClr val="414BEA"/>
          </a:solidFill>
          <a:ln>
            <a:solidFill>
              <a:srgbClr val="414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12970"/>
                </a:solidFill>
                <a:latin typeface="Inter"/>
              </a:defRPr>
            </a:pPr>
            <a:r>
              <a:t>Core Analytical Insights &amp; Recommendations: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Target High-Value Cohorts: 2025 investor cohort displays a 28% increase in average SIP ticket size (₹11,450 vs. ₹8,920). Marketing should focus on these high-ticket premium retail investors.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Customer Retention Risk: 28.45% of active monthly SIP investors are flagged as 'At-Risk' (date gaps &gt; 35 days). Implement automated alerts and grace periods to prevent systematic drops.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Balance Concentrated Risk: Active equity schemes with high Sector HHIs (&gt;4,000) carry high systemic risk. Wealth advisors should recommend low-HHI flexicap funds to moderate risk.</a:t>
            </a:r>
          </a:p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User Decision Support: The interactive fund recommender tool maps Low/Moderate/High appetite to top Sharpe-ratio funds to simplify investment decisions.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Outfit"/>
              </a:defRPr>
            </a:pPr>
            <a:r>
              <a:t>THANK YOU</a:t>
            </a:r>
          </a:p>
          <a:p>
            <a:pPr algn="ctr">
              <a:defRPr sz="1600">
                <a:solidFill>
                  <a:srgbClr val="F4F6F9"/>
                </a:solidFill>
                <a:latin typeface="Inter"/>
              </a:defRPr>
            </a:pPr>
            <a:r>
              <a:t>Questions &amp; Answers</a:t>
            </a:r>
            <a:br/>
            <a:br/>
            <a:r>
              <a:t>Mutual Fund Analytics Capstone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